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17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1934870"/>
            <a:ext cx="241401" cy="362102"/>
          </a:xfrm>
          <a:prstGeom prst="roundRect">
            <a:avLst>
              <a:gd name="adj" fmla="val 30000"/>
            </a:avLst>
          </a:prstGeom>
          <a:solidFill>
            <a:srgbClr val="FF6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236268" y="1693468"/>
            <a:ext cx="241401" cy="603504"/>
          </a:xfrm>
          <a:prstGeom prst="roundRect">
            <a:avLst>
              <a:gd name="adj" fmla="val 30000"/>
            </a:avLst>
          </a:prstGeom>
          <a:solidFill>
            <a:srgbClr val="F7B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558137" y="1371600"/>
            <a:ext cx="241401" cy="925372"/>
          </a:xfrm>
          <a:prstGeom prst="roundRect">
            <a:avLst>
              <a:gd name="adj" fmla="val 30000"/>
            </a:avLst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058400" cy="12801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FFFFFF"/>
                </a:solidFill>
                <a:latin typeface="Arial Black"/>
              </a:rPr>
              <a:t>PollSlide for PowerPoint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383280"/>
            <a:ext cx="100584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9AA0B5"/>
                </a:solidFill>
                <a:latin typeface="Arial"/>
              </a:rPr>
              <a:t>Live polls, quizzes &amp; surveys — right inside your slides.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429768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23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4315968"/>
            <a:ext cx="1371600" cy="34747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9AA0B5"/>
                </a:solidFill>
                <a:latin typeface="Arial"/>
              </a:rPr>
              <a:t>Windows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4297680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23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23160" y="4315968"/>
            <a:ext cx="1005840" cy="34747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9AA0B5"/>
                </a:solidFill>
                <a:latin typeface="Arial"/>
              </a:rPr>
              <a:t>Mac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4297680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23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20440" y="4315968"/>
            <a:ext cx="1005840" cy="34747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9AA0B5"/>
                </a:solidFill>
                <a:latin typeface="Arial"/>
              </a:rPr>
              <a:t>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6B85"/>
                </a:solidFill>
                <a:latin typeface="Arial"/>
              </a:rPr>
              <a:t>Microsoft AppSource — Office Add-in resubmission ·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C63FF"/>
                </a:solidFill>
                <a:latin typeface="Arial"/>
              </a:rPr>
              <a:t>CERTIFICATION FEEDBACK ADDRESSED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05840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Arial Black"/>
              </a:rPr>
              <a:t>Every point from the 09/17/2026 report, and where to see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5029200" cy="1645920"/>
          </a:xfrm>
          <a:prstGeom prst="roundRect">
            <a:avLst>
              <a:gd name="adj" fmla="val 6000"/>
            </a:avLst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2103120"/>
            <a:ext cx="109728" cy="1645920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25880" y="2331720"/>
            <a:ext cx="45720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>
                <a:solidFill>
                  <a:srgbClr val="FFFFFF"/>
                </a:solidFill>
                <a:latin typeface="Arial Black"/>
              </a:rPr>
              <a:t>1100.1.5 — First run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816352"/>
            <a:ext cx="4572000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AA0B5"/>
                </a:solidFill>
                <a:latin typeface="Arial"/>
              </a:rPr>
              <a:t>The task pane now opens on a value panel: one line on what the add-in does, plus three concrete benefits. All of it is visible before any credentials are requested, with no scrolling, at the default task-pane width.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03120"/>
            <a:ext cx="5029200" cy="1645920"/>
          </a:xfrm>
          <a:prstGeom prst="roundRect">
            <a:avLst>
              <a:gd name="adj" fmla="val 6000"/>
            </a:avLst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2103120"/>
            <a:ext cx="109728" cy="1645920"/>
          </a:xfrm>
          <a:prstGeom prst="rect">
            <a:avLst/>
          </a:prstGeom>
          <a:solidFill>
            <a:srgbClr val="43E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20840" y="2331720"/>
            <a:ext cx="45720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>
                <a:solidFill>
                  <a:srgbClr val="FFFFFF"/>
                </a:solidFill>
                <a:latin typeface="Arial Black"/>
              </a:rPr>
              <a:t>1100.5.7.3 — Getting an account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816352"/>
            <a:ext cx="4572000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AA0B5"/>
                </a:solidFill>
                <a:latin typeface="Arial"/>
              </a:rPr>
              <a:t>This is not an enterprise-only add-in. Any individual can self-serve a free account in about a minute. The first-run screen states that explicitly and links straight to sign-up.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977639"/>
            <a:ext cx="5029200" cy="1645920"/>
          </a:xfrm>
          <a:prstGeom prst="roundRect">
            <a:avLst>
              <a:gd name="adj" fmla="val 6000"/>
            </a:avLst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14400" y="3977639"/>
            <a:ext cx="109728" cy="1645920"/>
          </a:xfrm>
          <a:prstGeom prst="rect">
            <a:avLst/>
          </a:prstGeom>
          <a:solidFill>
            <a:srgbClr val="F7B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25880" y="4206240"/>
            <a:ext cx="45720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>
                <a:solidFill>
                  <a:srgbClr val="FFFFFF"/>
                </a:solidFill>
                <a:latin typeface="Arial Black"/>
              </a:rPr>
              <a:t>Contacting the provider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690872"/>
            <a:ext cx="4572000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AA0B5"/>
                </a:solidFill>
                <a:latin typeface="Arial"/>
              </a:rPr>
              <a:t>help@pollslide.com and the PowerPoint setup guide are both shown on the first-run screen. The manifest SupportUrl now points at the add-in’s own support page.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977639"/>
            <a:ext cx="5029200" cy="1645920"/>
          </a:xfrm>
          <a:prstGeom prst="roundRect">
            <a:avLst>
              <a:gd name="adj" fmla="val 6000"/>
            </a:avLst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3977639"/>
            <a:ext cx="109728" cy="1645920"/>
          </a:xfrm>
          <a:prstGeom prst="rect">
            <a:avLst/>
          </a:prstGeom>
          <a:solidFill>
            <a:srgbClr val="FF6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20840" y="4206240"/>
            <a:ext cx="45720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>
                <a:solidFill>
                  <a:srgbClr val="FFFFFF"/>
                </a:solidFill>
                <a:latin typeface="Arial Black"/>
              </a:rPr>
              <a:t>No functional change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690872"/>
            <a:ext cx="4572000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AA0B5"/>
                </a:solidFill>
                <a:latin typeface="Arial"/>
              </a:rPr>
              <a:t>This submission adds first-run explanatory content, account-acquisition guidance and support contact details. The manifest Id is unchanged; only Version was bumped.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C63FF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33272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FFFFF"/>
                </a:solidFill>
                <a:latin typeface="Arial Black"/>
              </a:rPr>
              <a:t>Audiences tune out — and presenters can’t install anything.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94560"/>
            <a:ext cx="3383280" cy="3108960"/>
          </a:xfrm>
          <a:prstGeom prst="roundRect">
            <a:avLst>
              <a:gd name="adj" fmla="val 6000"/>
            </a:avLst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2194560"/>
            <a:ext cx="3383280" cy="109728"/>
          </a:xfrm>
          <a:prstGeom prst="rect">
            <a:avLst/>
          </a:prstGeom>
          <a:solidFill>
            <a:srgbClr val="FF6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34440" y="2606040"/>
            <a:ext cx="457200" cy="457200"/>
          </a:xfrm>
          <a:prstGeom prst="ellipse">
            <a:avLst/>
          </a:prstGeom>
          <a:solidFill>
            <a:srgbClr val="FF6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3291840"/>
            <a:ext cx="27432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Arial Black"/>
              </a:rPr>
              <a:t>Passive audiences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886200"/>
            <a:ext cx="2743200" cy="12801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9AA0B5"/>
                </a:solidFill>
                <a:latin typeface="Arial"/>
              </a:rPr>
              <a:t>One-way slides lose the room. Engagement and recall fall off fast without interaction.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2194560"/>
            <a:ext cx="3383280" cy="3108960"/>
          </a:xfrm>
          <a:prstGeom prst="roundRect">
            <a:avLst>
              <a:gd name="adj" fmla="val 6000"/>
            </a:avLst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09160" y="2194560"/>
            <a:ext cx="3383280" cy="109728"/>
          </a:xfrm>
          <a:prstGeom prst="rect">
            <a:avLst/>
          </a:prstGeom>
          <a:solidFill>
            <a:srgbClr val="F7B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029200" y="2606040"/>
            <a:ext cx="457200" cy="457200"/>
          </a:xfrm>
          <a:prstGeom prst="ellipse">
            <a:avLst/>
          </a:prstGeom>
          <a:solidFill>
            <a:srgbClr val="F7B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0" y="3291840"/>
            <a:ext cx="27432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Arial Black"/>
              </a:rPr>
              <a:t>Borrowed computers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886200"/>
            <a:ext cx="2743200" cy="12801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9AA0B5"/>
                </a:solidFill>
                <a:latin typeface="Arial"/>
              </a:rPr>
              <a:t>Conferences and classrooms run off an onsite PC. The presenter arrives with a deck on a USB stick — nothing is installed.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2194560"/>
            <a:ext cx="3383280" cy="3108960"/>
          </a:xfrm>
          <a:prstGeom prst="roundRect">
            <a:avLst>
              <a:gd name="adj" fmla="val 6000"/>
            </a:avLst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503920" y="2194560"/>
            <a:ext cx="3383280" cy="109728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823960" y="2606040"/>
            <a:ext cx="457200" cy="457200"/>
          </a:xfrm>
          <a:prstGeom prst="ellipse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23960" y="3291840"/>
            <a:ext cx="27432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Arial Black"/>
              </a:rPr>
              <a:t>No-install reality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3886200"/>
            <a:ext cx="2743200" cy="12801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9AA0B5"/>
                </a:solidFill>
                <a:latin typeface="Arial"/>
              </a:rPr>
              <a:t>You can’t sideload a companion app on a locked-down machine minutes before you present.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715000"/>
            <a:ext cx="103327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1">
                <a:solidFill>
                  <a:srgbClr val="F7B731"/>
                </a:solidFill>
                <a:latin typeface="Arial"/>
              </a:rPr>
              <a:t>PollSlide needed a way to work on ANY PowerPoint, with nothing pre-installed.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C63FF"/>
                </a:solidFill>
                <a:latin typeface="Arial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332720" cy="1463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Arial Black"/>
              </a:rPr>
              <a:t>One Office Add-in. Every PowerPoint.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6492240" cy="23774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FFFFFF"/>
                </a:solidFill>
                <a:latin typeface="Arial"/>
              </a:rPr>
              <a:t>Office.js add-ins run inside PowerPoint on Windows, Mac and the web — from a single codebase. </a:t>
            </a:r>
          </a:p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6C63FF"/>
                </a:solidFill>
                <a:latin typeface="Arial"/>
              </a:rPr>
              <a:t>No companion app to install.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944368"/>
            <a:ext cx="310896" cy="310896"/>
          </a:xfrm>
          <a:prstGeom prst="ellipse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907792"/>
            <a:ext cx="310896" cy="31089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880360"/>
            <a:ext cx="58521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FFFFF"/>
                </a:solidFill>
                <a:latin typeface="Arial"/>
              </a:rPr>
              <a:t>Insert from the ribbon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18688"/>
            <a:ext cx="585216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9AA0B5"/>
                </a:solidFill>
                <a:latin typeface="Arial"/>
              </a:rPr>
              <a:t>Add PollSlide once from AppSource; it’s there on any signed-in copy of PowerPoint.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904487"/>
            <a:ext cx="310896" cy="310896"/>
          </a:xfrm>
          <a:prstGeom prst="ellipse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867912"/>
            <a:ext cx="310896" cy="31089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840480"/>
            <a:ext cx="58521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FFFFF"/>
                </a:solidFill>
                <a:latin typeface="Arial"/>
              </a:rPr>
              <a:t>Audience answers on any phone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178808"/>
            <a:ext cx="585216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9AA0B5"/>
                </a:solidFill>
                <a:latin typeface="Arial"/>
              </a:rPr>
              <a:t>A QR code / link on the slide — no app, no login for participants.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864607"/>
            <a:ext cx="310896" cy="310896"/>
          </a:xfrm>
          <a:prstGeom prst="ellipse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828032"/>
            <a:ext cx="310896" cy="31089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800600"/>
            <a:ext cx="58521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FFFFF"/>
                </a:solidFill>
                <a:latin typeface="Arial"/>
              </a:rPr>
              <a:t>Results live on the slide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138928"/>
            <a:ext cx="585216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9AA0B5"/>
                </a:solidFill>
                <a:latin typeface="Arial"/>
              </a:rPr>
              <a:t>Votes, quiz scores and survey responses update in real time in the task pane.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1920240"/>
            <a:ext cx="3474720" cy="4023360"/>
          </a:xfrm>
          <a:prstGeom prst="roundRect">
            <a:avLst>
              <a:gd name="adj" fmla="val 6000"/>
            </a:avLst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0" y="2194560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9AA0B5"/>
                </a:solidFill>
                <a:latin typeface="Arial"/>
              </a:rPr>
              <a:t>RUNS NATIVELY 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2788920"/>
            <a:ext cx="2834640" cy="777240"/>
          </a:xfrm>
          <a:prstGeom prst="roundRect">
            <a:avLst>
              <a:gd name="adj" fmla="val 12000"/>
            </a:avLst>
          </a:prstGeom>
          <a:solidFill>
            <a:srgbClr val="23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275320" y="3035808"/>
            <a:ext cx="274320" cy="274320"/>
          </a:xfrm>
          <a:prstGeom prst="ellipse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0" y="2788920"/>
            <a:ext cx="2194560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PowerPoint · Windows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3794760"/>
            <a:ext cx="2834640" cy="777240"/>
          </a:xfrm>
          <a:prstGeom prst="roundRect">
            <a:avLst>
              <a:gd name="adj" fmla="val 12000"/>
            </a:avLst>
          </a:prstGeom>
          <a:solidFill>
            <a:srgbClr val="23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275320" y="4041648"/>
            <a:ext cx="274320" cy="274320"/>
          </a:xfrm>
          <a:prstGeom prst="ellipse">
            <a:avLst/>
          </a:prstGeom>
          <a:solidFill>
            <a:srgbClr val="43E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0" y="3794760"/>
            <a:ext cx="2194560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PowerPoint · Mac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4800600"/>
            <a:ext cx="2834640" cy="777240"/>
          </a:xfrm>
          <a:prstGeom prst="roundRect">
            <a:avLst>
              <a:gd name="adj" fmla="val 12000"/>
            </a:avLst>
          </a:prstGeom>
          <a:solidFill>
            <a:srgbClr val="23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275320" y="5047488"/>
            <a:ext cx="274320" cy="274320"/>
          </a:xfrm>
          <a:prstGeom prst="ellipse">
            <a:avLst/>
          </a:prstGeom>
          <a:solidFill>
            <a:srgbClr val="F7B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0" y="4800600"/>
            <a:ext cx="2194560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PowerPoint on the web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C63FF"/>
                </a:solidFill>
                <a:latin typeface="Arial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05840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6162C"/>
                </a:solidFill>
                <a:latin typeface="Arial Black"/>
              </a:rPr>
              <a:t>Three steps, zero friction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94560"/>
            <a:ext cx="338328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280160" y="2606040"/>
            <a:ext cx="731520" cy="731520"/>
          </a:xfrm>
          <a:prstGeom prst="ellipse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60" y="2606040"/>
            <a:ext cx="731520" cy="7315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611880"/>
            <a:ext cx="265176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6162C"/>
                </a:solidFill>
                <a:latin typeface="Arial Black"/>
              </a:rPr>
              <a:t>Insert the poll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160520"/>
            <a:ext cx="2651760" cy="109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B85"/>
                </a:solidFill>
                <a:latin typeface="Arial"/>
              </a:rPr>
              <a:t>From the PollSlide panel, pick a question and click Insert QR — the code drops onto your slide.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2194560"/>
            <a:ext cx="338328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074920" y="2606040"/>
            <a:ext cx="731520" cy="731520"/>
          </a:xfrm>
          <a:prstGeom prst="ellipse">
            <a:avLst/>
          </a:prstGeom>
          <a:solidFill>
            <a:srgbClr val="F7B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74920" y="2606040"/>
            <a:ext cx="731520" cy="7315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3611880"/>
            <a:ext cx="265176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6162C"/>
                </a:solidFill>
                <a:latin typeface="Arial Black"/>
              </a:rPr>
              <a:t>Audience responds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4160520"/>
            <a:ext cx="2651760" cy="109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B85"/>
                </a:solidFill>
                <a:latin typeface="Arial"/>
              </a:rPr>
              <a:t>Attendees scan with any phone camera and answer instantly — no app, no account.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2194560"/>
            <a:ext cx="338328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869680" y="2606040"/>
            <a:ext cx="731520" cy="731520"/>
          </a:xfrm>
          <a:prstGeom prst="ellipse">
            <a:avLst/>
          </a:prstGeom>
          <a:solidFill>
            <a:srgbClr val="43E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0" y="2606040"/>
            <a:ext cx="731520" cy="7315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611880"/>
            <a:ext cx="265176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6162C"/>
                </a:solidFill>
                <a:latin typeface="Arial Black"/>
              </a:rPr>
              <a:t>Watch it 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4160520"/>
            <a:ext cx="2651760" cy="109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B85"/>
                </a:solidFill>
                <a:latin typeface="Arial"/>
              </a:rPr>
              <a:t>Bars, leaderboards and survey results update in the task pane as answers arrive.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06440"/>
            <a:ext cx="10058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6C63FF"/>
                </a:solidFill>
                <a:latin typeface="Arial"/>
              </a:rPr>
              <a:t>The presenter never leaves PowerPoint. The audience never installs anything.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C63FF"/>
                </a:solidFill>
                <a:latin typeface="Arial"/>
              </a:rPr>
              <a:t>INSIDE THE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33272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Arial Black"/>
              </a:rPr>
              <a:t>Live results, in the PowerPoint task pane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206240" cy="3200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9AA0B5"/>
                </a:solidFill>
                <a:latin typeface="Arial"/>
              </a:rPr>
              <a:t>What the presenter sees, docked beside their slides: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788920"/>
            <a:ext cx="146304" cy="146304"/>
          </a:xfrm>
          <a:prstGeom prst="ellipse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2697480"/>
            <a:ext cx="39319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FFFFFF"/>
                </a:solidFill>
                <a:latin typeface="Arial"/>
              </a:rPr>
              <a:t>Real-time vote bars &amp; %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291839"/>
            <a:ext cx="146304" cy="146304"/>
          </a:xfrm>
          <a:prstGeom prst="ellipse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3200400"/>
            <a:ext cx="39319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FFFFFF"/>
                </a:solidFill>
                <a:latin typeface="Arial"/>
              </a:rPr>
              <a:t>Quiz reveal with a countdown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794759"/>
            <a:ext cx="146304" cy="146304"/>
          </a:xfrm>
          <a:prstGeom prst="ellipse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3703320"/>
            <a:ext cx="39319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FFFFFF"/>
                </a:solidFill>
                <a:latin typeface="Arial"/>
              </a:rPr>
              <a:t>QR + answer link, one click to insert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297679"/>
            <a:ext cx="146304" cy="146304"/>
          </a:xfrm>
          <a:prstGeom prst="ellipse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206240"/>
            <a:ext cx="39319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FFFFFF"/>
                </a:solidFill>
                <a:latin typeface="Arial"/>
              </a:rPr>
              <a:t>Leaderboards, word clouds, ratings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800599"/>
            <a:ext cx="146304" cy="146304"/>
          </a:xfrm>
          <a:prstGeom prst="ellipse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4709159"/>
            <a:ext cx="39319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FFFFFF"/>
                </a:solidFill>
                <a:latin typeface="Arial"/>
              </a:rPr>
              <a:t>Survey &amp; study modes in the same panel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1737360"/>
            <a:ext cx="5486400" cy="4572000"/>
          </a:xfrm>
          <a:prstGeom prst="roundRect">
            <a:avLst>
              <a:gd name="adj" fmla="val 4000"/>
            </a:avLst>
          </a:prstGeom>
          <a:solidFill>
            <a:srgbClr val="1C1C2E"/>
          </a:solidFill>
          <a:ln w="12700">
            <a:solidFill>
              <a:srgbClr val="2C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60720" y="1737360"/>
            <a:ext cx="5486400" cy="640080"/>
          </a:xfrm>
          <a:prstGeom prst="rect">
            <a:avLst/>
          </a:prstGeom>
          <a:solidFill>
            <a:srgbClr val="23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80759" y="1737360"/>
            <a:ext cx="2743200" cy="6400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 Black"/>
              </a:rPr>
              <a:t>Live results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29800" y="1883664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12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29800" y="1901952"/>
            <a:ext cx="1097280" cy="34747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9AA0B5"/>
                </a:solidFill>
                <a:latin typeface="Arial"/>
              </a:rPr>
              <a:t>← Polls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59" y="2514600"/>
            <a:ext cx="48463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Powerhouse of the cell?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59" y="3063239"/>
            <a:ext cx="2743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A0B5"/>
                </a:solidFill>
                <a:latin typeface="Arial"/>
              </a:rPr>
              <a:t>Reveal in </a:t>
            </a:r>
          </a:p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7B731"/>
                </a:solidFill>
                <a:latin typeface="Arial"/>
              </a:rPr>
              <a:t>25s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55480" y="30175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23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55480" y="3035808"/>
            <a:ext cx="1371600" cy="34747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Reveal now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59" y="3611879"/>
            <a:ext cx="3657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4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AA0B5"/>
                </a:solidFill>
                <a:latin typeface="Arial"/>
              </a:rPr>
              <a:t>  responses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59" y="4069079"/>
            <a:ext cx="48463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FFFFFF"/>
                </a:solidFill>
                <a:latin typeface="Arial"/>
              </a:rPr>
              <a:t>A · Mitochondria  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59" y="4069079"/>
            <a:ext cx="48463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Arial"/>
              </a:rPr>
              <a:t>75%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80759" y="4379975"/>
            <a:ext cx="4846320" cy="201168"/>
          </a:xfrm>
          <a:prstGeom prst="roundRect">
            <a:avLst>
              <a:gd name="adj" fmla="val 50000"/>
            </a:avLst>
          </a:prstGeom>
          <a:solidFill>
            <a:srgbClr val="0D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080759" y="4379975"/>
            <a:ext cx="3634739" cy="201168"/>
          </a:xfrm>
          <a:prstGeom prst="roundRect">
            <a:avLst>
              <a:gd name="adj" fmla="val 50000"/>
            </a:avLst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80759" y="4800600"/>
            <a:ext cx="48463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FFFFFF"/>
                </a:solidFill>
                <a:latin typeface="Arial"/>
              </a:rPr>
              <a:t>B · Nucleus  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4800600"/>
            <a:ext cx="48463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Arial"/>
              </a:rPr>
              <a:t>25%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80759" y="5111496"/>
            <a:ext cx="4846320" cy="201168"/>
          </a:xfrm>
          <a:prstGeom prst="roundRect">
            <a:avLst>
              <a:gd name="adj" fmla="val 50000"/>
            </a:avLst>
          </a:prstGeom>
          <a:solidFill>
            <a:srgbClr val="0D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080759" y="5111496"/>
            <a:ext cx="1211580" cy="201168"/>
          </a:xfrm>
          <a:prstGeom prst="roundRect">
            <a:avLst>
              <a:gd name="adj" fmla="val 50000"/>
            </a:avLst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863840" y="5394960"/>
            <a:ext cx="82296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863840" y="5394960"/>
            <a:ext cx="822960" cy="8229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6162C"/>
                </a:solidFill>
                <a:latin typeface="Arial"/>
              </a:rPr>
              <a:t>QR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5440679"/>
            <a:ext cx="237744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AA0B5"/>
                </a:solidFill>
                <a:latin typeface="Arial"/>
              </a:rPr>
              <a:t>Audience scans to answer
</a:t>
            </a:r>
          </a:p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C63FF"/>
                </a:solidFill>
                <a:latin typeface="Arial"/>
              </a:rPr>
              <a:t>app.pollslide.com/answer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C63FF"/>
                </a:solidFill>
                <a:latin typeface="Arial"/>
              </a:rPr>
              <a:t>IN THE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05840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162C"/>
                </a:solidFill>
                <a:latin typeface="Arial Black"/>
              </a:rPr>
              <a:t>Built for real classrooms &amp; conferences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512064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2286000"/>
            <a:ext cx="43891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6B85"/>
                </a:solidFill>
                <a:latin typeface="Arial"/>
              </a:rPr>
              <a:t>YOUR PRESENTATIONS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2834640"/>
            <a:ext cx="4389120" cy="566928"/>
          </a:xfrm>
          <a:prstGeom prst="roundRect">
            <a:avLst>
              <a:gd name="adj" fmla="val 10000"/>
            </a:avLst>
          </a:prstGeom>
          <a:solidFill>
            <a:srgbClr val="F4F4FA"/>
          </a:solidFill>
          <a:ln w="9525">
            <a:solidFill>
              <a:srgbClr val="E6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08760" y="2889504"/>
            <a:ext cx="4023359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6162C"/>
                </a:solidFill>
                <a:latin typeface="Arial"/>
              </a:rPr>
              <a:t>Biology 101 — Midterm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3145536"/>
            <a:ext cx="4023359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6B85"/>
                </a:solidFill>
                <a:latin typeface="Arial"/>
              </a:rPr>
              <a:t>2 Q · quiz · BIO314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3547872"/>
            <a:ext cx="4389120" cy="566928"/>
          </a:xfrm>
          <a:prstGeom prst="roundRect">
            <a:avLst>
              <a:gd name="adj" fmla="val 10000"/>
            </a:avLst>
          </a:prstGeom>
          <a:solidFill>
            <a:srgbClr val="F4F4FA"/>
          </a:solidFill>
          <a:ln w="9525">
            <a:solidFill>
              <a:srgbClr val="E6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08760" y="3602736"/>
            <a:ext cx="4023359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6162C"/>
                </a:solidFill>
                <a:latin typeface="Arial"/>
              </a:rPr>
              <a:t>All-Hands Pulse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858768"/>
            <a:ext cx="4023359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6B85"/>
                </a:solidFill>
                <a:latin typeface="Arial"/>
              </a:rPr>
              <a:t>1 Q · poll · TEAM22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0" y="4261104"/>
            <a:ext cx="4389120" cy="566928"/>
          </a:xfrm>
          <a:prstGeom prst="roundRect">
            <a:avLst>
              <a:gd name="adj" fmla="val 10000"/>
            </a:avLst>
          </a:prstGeom>
          <a:solidFill>
            <a:srgbClr val="F4F4FA"/>
          </a:solidFill>
          <a:ln w="9525">
            <a:solidFill>
              <a:srgbClr val="E6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08760" y="4315968"/>
            <a:ext cx="4023359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6162C"/>
                </a:solidFill>
                <a:latin typeface="Arial"/>
              </a:rPr>
              <a:t>Customer NPS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572000"/>
            <a:ext cx="4023359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6B85"/>
                </a:solidFill>
                <a:latin typeface="Arial"/>
              </a:rPr>
              <a:t>4 Q · survey · SUR118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0" y="4974336"/>
            <a:ext cx="4389120" cy="566928"/>
          </a:xfrm>
          <a:prstGeom prst="roundRect">
            <a:avLst>
              <a:gd name="adj" fmla="val 10000"/>
            </a:avLst>
          </a:prstGeom>
          <a:solidFill>
            <a:srgbClr val="F4F4FA"/>
          </a:solidFill>
          <a:ln w="9525">
            <a:solidFill>
              <a:srgbClr val="E6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08760" y="5029199"/>
            <a:ext cx="4023359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6162C"/>
                </a:solidFill>
                <a:latin typeface="Arial"/>
              </a:rPr>
              <a:t>Chapter 3 Cards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5285231"/>
            <a:ext cx="4023359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6B85"/>
                </a:solidFill>
                <a:latin typeface="Arial"/>
              </a:rPr>
              <a:t>12 cards · study · STU90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011680"/>
            <a:ext cx="4846320" cy="4023360"/>
          </a:xfrm>
          <a:prstGeom prst="roundRect">
            <a:avLst>
              <a:gd name="adj" fmla="val 4000"/>
            </a:avLst>
          </a:prstGeom>
          <a:solidFill>
            <a:srgbClr val="16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12280" y="2331720"/>
            <a:ext cx="4023359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 Black"/>
              </a:rPr>
              <a:t>One engine, four products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154680"/>
            <a:ext cx="5486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FFFFFF"/>
                </a:solidFill>
                <a:latin typeface="Arial"/>
              </a:rPr>
              <a:t>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3136392"/>
            <a:ext cx="3383279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PollSlide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3429000"/>
            <a:ext cx="3383279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9B0C7"/>
                </a:solidFill>
                <a:latin typeface="Arial"/>
              </a:rPr>
              <a:t>Live audience polls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867912"/>
            <a:ext cx="5486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FFFFFF"/>
                </a:solidFill>
                <a:latin typeface="Arial"/>
              </a:rPr>
              <a:t>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3849624"/>
            <a:ext cx="3383279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SurveySlide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4142232"/>
            <a:ext cx="3383279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9B0C7"/>
                </a:solidFill>
                <a:latin typeface="Arial"/>
              </a:rPr>
              <a:t>Async forms &amp; feedback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581144"/>
            <a:ext cx="5486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FFFFFF"/>
                </a:solidFill>
                <a:latin typeface="Arial"/>
              </a:rPr>
              <a:t>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4562856"/>
            <a:ext cx="3383279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QuizSlide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4855464"/>
            <a:ext cx="3383279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9B0C7"/>
                </a:solidFill>
                <a:latin typeface="Arial"/>
              </a:rPr>
              <a:t>Graded quizzes &amp; games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5294376"/>
            <a:ext cx="5486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FFFFFF"/>
                </a:solidFill>
                <a:latin typeface="Arial"/>
              </a:rPr>
              <a:t>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5276088"/>
            <a:ext cx="3383279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StudySlide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5568696"/>
            <a:ext cx="3383279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9B0C7"/>
                </a:solidFill>
                <a:latin typeface="Arial"/>
              </a:rPr>
              <a:t>Flashcards &amp; spaced repetition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C63FF"/>
                </a:solidFill>
                <a:latin typeface="Arial"/>
              </a:rPr>
              <a:t>CROSS-PLATFORM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05840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Arial Black"/>
              </a:rPr>
              <a:t>One submission, every surface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10332720" cy="548640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011680"/>
            <a:ext cx="594360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Capability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011680"/>
            <a:ext cx="146304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Win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011680"/>
            <a:ext cx="146304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Mac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2011680"/>
            <a:ext cx="146304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560320"/>
            <a:ext cx="594360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FFFFFF"/>
                </a:solidFill>
                <a:latin typeface="Arial"/>
              </a:rPr>
              <a:t>Task pane add-in (Office.js)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560320"/>
            <a:ext cx="146304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43E97B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560320"/>
            <a:ext cx="146304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43E97B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2560320"/>
            <a:ext cx="146304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43E97B"/>
                </a:solidFill>
                <a:latin typeface="Arial"/>
              </a:rPr>
              <a:t>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108960"/>
            <a:ext cx="10332720" cy="548640"/>
          </a:xfrm>
          <a:prstGeom prst="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3108960"/>
            <a:ext cx="594360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FFFFFF"/>
                </a:solidFill>
                <a:latin typeface="Arial"/>
              </a:rPr>
              <a:t>Insert QR onto a slide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108960"/>
            <a:ext cx="146304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43E97B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108960"/>
            <a:ext cx="146304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43E97B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3108960"/>
            <a:ext cx="146304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43E97B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657600"/>
            <a:ext cx="594360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FFFFFF"/>
                </a:solidFill>
                <a:latin typeface="Arial"/>
              </a:rPr>
              <a:t>Live results in the pane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657600"/>
            <a:ext cx="146304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43E97B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657600"/>
            <a:ext cx="146304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43E97B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3657600"/>
            <a:ext cx="146304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43E97B"/>
                </a:solidFill>
                <a:latin typeface="Arial"/>
              </a:rPr>
              <a:t>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4206240"/>
            <a:ext cx="10332720" cy="548640"/>
          </a:xfrm>
          <a:prstGeom prst="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43000" y="4206240"/>
            <a:ext cx="594360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FFFFFF"/>
                </a:solidFill>
                <a:latin typeface="Arial"/>
              </a:rPr>
              <a:t>Auto-detect poll slides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206240"/>
            <a:ext cx="146304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43E97B"/>
                </a:solidFill>
                <a:latin typeface="Arial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206240"/>
            <a:ext cx="146304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43E97B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4206240"/>
            <a:ext cx="146304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9AA0B5"/>
                </a:solidFill>
                <a:latin typeface="Arial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754880"/>
            <a:ext cx="594360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FFFFFF"/>
                </a:solidFill>
                <a:latin typeface="Arial"/>
              </a:rPr>
              <a:t>Audience answers on phone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754880"/>
            <a:ext cx="146304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43E97B"/>
                </a:solidFill>
                <a:latin typeface="Arial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754880"/>
            <a:ext cx="146304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43E97B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4754880"/>
            <a:ext cx="146304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43E97B"/>
                </a:solidFill>
                <a:latin typeface="Arial"/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5303520"/>
            <a:ext cx="10332720" cy="548640"/>
          </a:xfrm>
          <a:prstGeom prst="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43000" y="5303520"/>
            <a:ext cx="594360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FFFFFF"/>
                </a:solidFill>
                <a:latin typeface="Arial"/>
              </a:rPr>
              <a:t>No install on the host PC*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303520"/>
            <a:ext cx="146304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43E97B"/>
                </a:solidFill>
                <a:latin typeface="Arial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5303520"/>
            <a:ext cx="146304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43E97B"/>
                </a:solidFill>
                <a:latin typeface="Arial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5303520"/>
            <a:ext cx="146304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43E97B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6B6B85"/>
                </a:solidFill>
                <a:latin typeface="Arial"/>
              </a:rPr>
              <a:t>* Added once from AppSource to a signed-in account; available on any copy of PowerPoint the presenter opens.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C63FF"/>
                </a:solidFill>
                <a:latin typeface="Arial"/>
              </a:rPr>
              <a:t>BUILT RIGHT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05840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Arial Black"/>
              </a:rPr>
              <a:t>Secure, private, store-ready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5029200" cy="1645920"/>
          </a:xfrm>
          <a:prstGeom prst="roundRect">
            <a:avLst>
              <a:gd name="adj" fmla="val 6000"/>
            </a:avLst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2103120"/>
            <a:ext cx="109728" cy="1645920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25880" y="2331720"/>
            <a:ext cx="45720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FFFFFF"/>
                </a:solidFill>
                <a:latin typeface="Arial Black"/>
              </a:rPr>
              <a:t>Standard Office.js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816352"/>
            <a:ext cx="4572000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9AA0B5"/>
                </a:solidFill>
                <a:latin typeface="Arial"/>
              </a:rPr>
              <a:t>Task-pane add-in using only public Office.js APIs. Requests the minimum ReadWriteDocument permission (to insert a QR image).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03120"/>
            <a:ext cx="5029200" cy="1645920"/>
          </a:xfrm>
          <a:prstGeom prst="roundRect">
            <a:avLst>
              <a:gd name="adj" fmla="val 6000"/>
            </a:avLst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2103120"/>
            <a:ext cx="109728" cy="1645920"/>
          </a:xfrm>
          <a:prstGeom prst="rect">
            <a:avLst/>
          </a:prstGeom>
          <a:solidFill>
            <a:srgbClr val="43E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20840" y="2331720"/>
            <a:ext cx="45720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FFFFFF"/>
                </a:solidFill>
                <a:latin typeface="Arial Black"/>
              </a:rPr>
              <a:t>Privacy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816352"/>
            <a:ext cx="4572000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9AA0B5"/>
                </a:solidFill>
                <a:latin typeface="Arial"/>
              </a:rPr>
              <a:t>Participants answer anonymously by default — no personal data required. Hosted on Google Firebase; nothing is sold or shared. Privacy policy &amp; EULA published.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977639"/>
            <a:ext cx="5029200" cy="1645920"/>
          </a:xfrm>
          <a:prstGeom prst="roundRect">
            <a:avLst>
              <a:gd name="adj" fmla="val 6000"/>
            </a:avLst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14400" y="3977639"/>
            <a:ext cx="109728" cy="1645920"/>
          </a:xfrm>
          <a:prstGeom prst="rect">
            <a:avLst/>
          </a:prstGeom>
          <a:solidFill>
            <a:srgbClr val="F7B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25880" y="4206240"/>
            <a:ext cx="45720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FFFFFF"/>
                </a:solidFill>
                <a:latin typeface="Arial Black"/>
              </a:rPr>
              <a:t>Resilient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690872"/>
            <a:ext cx="4572000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9AA0B5"/>
                </a:solidFill>
                <a:latin typeface="Arial"/>
              </a:rPr>
              <a:t>Slide auto-detection degrades gracefully; if a host lacks an API, the manual flow still works. HTTPS throughout; CSP-friendly.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977639"/>
            <a:ext cx="5029200" cy="1645920"/>
          </a:xfrm>
          <a:prstGeom prst="roundRect">
            <a:avLst>
              <a:gd name="adj" fmla="val 6000"/>
            </a:avLst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3977639"/>
            <a:ext cx="109728" cy="1645920"/>
          </a:xfrm>
          <a:prstGeom prst="rect">
            <a:avLst/>
          </a:prstGeom>
          <a:solidFill>
            <a:srgbClr val="FF6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20840" y="4206240"/>
            <a:ext cx="45720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FFFFFF"/>
                </a:solidFill>
                <a:latin typeface="Arial Black"/>
              </a:rPr>
              <a:t>Accessible &amp; themed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690872"/>
            <a:ext cx="4572000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9AA0B5"/>
                </a:solidFill>
                <a:latin typeface="Arial"/>
              </a:rPr>
              <a:t>Keyboard-navigable, high-contrast UI with light/dark support, sized for the PowerPoint task pane.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C63FF"/>
                </a:solidFill>
                <a:latin typeface="Arial"/>
              </a:rPr>
              <a:t>APPSOURCE LISTING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05840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6162C"/>
                </a:solidFill>
                <a:latin typeface="Arial Black"/>
              </a:rPr>
              <a:t>Store listing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51206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C63FF"/>
                </a:solidFill>
                <a:latin typeface="Arial"/>
              </a:rPr>
              <a:t>APP 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512064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16162C"/>
                </a:solidFill>
                <a:latin typeface="Arial"/>
              </a:rPr>
              <a:t>PollSlide for PowerPoint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51206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C63FF"/>
                </a:solidFill>
                <a:latin typeface="Arial"/>
              </a:rPr>
              <a:t>SHORT 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5120640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16162C"/>
                </a:solidFill>
                <a:latin typeface="Arial"/>
              </a:rPr>
              <a:t>Run live polls, quizzes and surveys inside PowerPoint. Your audience answers on any phone by scanning a QR code — no app, no account. Results update on your slide as they come in. Free individual accounts — no enterprise purchase or admin setup required.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51206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C63FF"/>
                </a:solidFill>
                <a:latin typeface="Arial"/>
              </a:rPr>
              <a:t>CATEGORIES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43400"/>
            <a:ext cx="51206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16162C"/>
                </a:solidFill>
                <a:latin typeface="Arial"/>
              </a:rPr>
              <a:t>Productivity · Education · Presentations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00600"/>
            <a:ext cx="51206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C63FF"/>
                </a:solidFill>
                <a:latin typeface="Arial"/>
              </a:rPr>
              <a:t>SUPPORT / PRIVACY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51206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16162C"/>
                </a:solidFill>
                <a:latin typeface="Arial"/>
              </a:rPr>
              <a:t>pollslide.com/pollslide-for-powerpoint  ·  pollslide.com/privacy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011680"/>
            <a:ext cx="484632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20840" y="2240280"/>
            <a:ext cx="42062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C63FF"/>
                </a:solidFill>
                <a:latin typeface="Arial"/>
              </a:rPr>
              <a:t>LONG DESCRIPTION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606040"/>
            <a:ext cx="4251960" cy="3291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B6B85"/>
                </a:solidFill>
                <a:latin typeface="Arial"/>
              </a:rPr>
              <a:t>PollSlide turns a PowerPoint deck into a two-way conversation. Insert a poll, quiz or survey into your slides. Your audience scans a QR code or types a short code at pollslide.com/join — nothing to install, no account to create, works on any phone. Answers arrive live and the results update on your slide while you present.</a:t>
            </a:r>
          </a:p>
          <a:p>
            <a:r>
              <a:rPr sz="900" b="1">
                <a:solidFill>
                  <a:srgbClr val="6B6B85"/>
                </a:solidFill>
                <a:latin typeface="Arial"/>
              </a:rPr>
              <a:t>What you can do</a:t>
            </a:r>
          </a:p>
          <a:p>
            <a:r>
              <a:rPr sz="900" b="0">
                <a:solidFill>
                  <a:srgbClr val="6B6B85"/>
                </a:solidFill>
                <a:latin typeface="Arial"/>
              </a:rPr>
              <a:t>•  Live polls, multiple-choice quizzes, open text, word clouds and rating scales</a:t>
            </a:r>
          </a:p>
          <a:p>
            <a:r>
              <a:rPr sz="900" b="0">
                <a:solidFill>
                  <a:srgbClr val="6B6B85"/>
                </a:solidFill>
                <a:latin typeface="Arial"/>
              </a:rPr>
              <a:t>•  Show live results as they arrive, or only who has responded, so answers stay independent until your reveal</a:t>
            </a:r>
          </a:p>
          <a:p>
            <a:r>
              <a:rPr sz="900" b="0">
                <a:solidFill>
                  <a:srgbClr val="6B6B85"/>
                </a:solidFill>
                <a:latin typeface="Arial"/>
              </a:rPr>
              <a:t>•  Score quizzes automatically, with a leaderboard and a reveal</a:t>
            </a:r>
          </a:p>
          <a:p>
            <a:r>
              <a:rPr sz="900" b="0">
                <a:solidFill>
                  <a:srgbClr val="6B6B85"/>
                </a:solidFill>
                <a:latin typeface="Arial"/>
              </a:rPr>
              <a:t>•  Insert a QR code straight onto any slide</a:t>
            </a:r>
          </a:p>
          <a:p>
            <a:r>
              <a:rPr sz="900" b="0">
                <a:solidFill>
                  <a:srgbClr val="6B6B85"/>
                </a:solidFill>
                <a:latin typeface="Arial"/>
              </a:rPr>
              <a:t>•  Works in PowerPoint on Windows, Mac and the web</a:t>
            </a:r>
          </a:p>
          <a:p>
            <a:r>
              <a:rPr sz="900" b="1">
                <a:solidFill>
                  <a:srgbClr val="6B6B85"/>
                </a:solidFill>
                <a:latin typeface="Arial"/>
              </a:rPr>
              <a:t>Getting an account</a:t>
            </a:r>
          </a:p>
          <a:p>
            <a:r>
              <a:rPr sz="900" b="0">
                <a:solidFill>
                  <a:srgbClr val="6B6B85"/>
                </a:solidFill>
                <a:latin typeface="Arial"/>
              </a:rPr>
              <a:t>PollSlide is available to individuals as well as organisations. Anyone can create a free account at app.pollslide.com/presenter in about a minute — no enterprise purchase, license key or administrator provisioning, and no credit card for the free plan. This is not an enterprise-only add-in.</a:t>
            </a:r>
          </a:p>
          <a:p>
            <a:r>
              <a:rPr sz="900" b="1">
                <a:solidFill>
                  <a:srgbClr val="6B6B85"/>
                </a:solidFill>
                <a:latin typeface="Arial"/>
              </a:rPr>
              <a:t>Who it is for</a:t>
            </a:r>
          </a:p>
          <a:p>
            <a:r>
              <a:rPr sz="900" b="0">
                <a:solidFill>
                  <a:srgbClr val="6B6B85"/>
                </a:solidFill>
                <a:latin typeface="Arial"/>
              </a:rPr>
              <a:t>Teachers checking a class has understood, trainers keeping a room awake, and anyone who has ever asked “any questions?” to silence.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C63FF"/>
                </a:solidFill>
                <a:latin typeface="Arial"/>
              </a:rPr>
              <a:t>FOR THE MICROSOFT VALIDATOR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05840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Arial Black"/>
              </a:rPr>
              <a:t>How to test in 60 seconds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4937760" cy="1828800"/>
          </a:xfrm>
          <a:prstGeom prst="roundRect">
            <a:avLst>
              <a:gd name="adj" fmla="val 6000"/>
            </a:avLst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34440" y="2240280"/>
            <a:ext cx="43891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7B731"/>
                </a:solidFill>
                <a:latin typeface="Arial"/>
              </a:rPr>
              <a:t>TEST ACCOUNT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51760"/>
            <a:ext cx="4389120" cy="142250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9AA0B5"/>
                </a:solidFill>
                <a:latin typeface="Arial"/>
              </a:rPr>
              <a:t>Email:</a:t>
            </a:r>
          </a:p>
          <a:p>
            <a:r>
              <a:rPr sz="1400" b="1">
                <a:solidFill>
                  <a:srgbClr val="9AA0B5"/>
                </a:solidFill>
                <a:latin typeface="Arial"/>
              </a:rPr>
              <a:t>appsource-review@pollslide.com</a:t>
            </a:r>
          </a:p>
          <a:p>
            <a:r>
              <a:rPr sz="1400" b="0">
                <a:solidFill>
                  <a:srgbClr val="9AA0B5"/>
                </a:solidFill>
                <a:latin typeface="Arial"/>
              </a:rPr>
              <a:t/>
            </a:r>
          </a:p>
          <a:p>
            <a:r>
              <a:rPr sz="1400" b="0">
                <a:solidFill>
                  <a:srgbClr val="9AA0B5"/>
                </a:solidFill>
                <a:latin typeface="Arial"/>
              </a:rPr>
              <a:t>Password:</a:t>
            </a:r>
          </a:p>
          <a:p>
            <a:r>
              <a:rPr sz="1400" b="1">
                <a:solidFill>
                  <a:srgbClr val="9AA0B5"/>
                </a:solidFill>
                <a:latin typeface="Arial"/>
              </a:rPr>
              <a:t>12345678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8463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C63FF"/>
                </a:solidFill>
                <a:latin typeface="Arial"/>
              </a:rPr>
              <a:t>STEPS</a:t>
            </a:r>
          </a:p>
        </p:txBody>
      </p:sp>
      <p:sp>
        <p:nvSpPr>
          <p:cNvPr id="9" name="Oval 8"/>
          <p:cNvSpPr/>
          <p:nvPr/>
        </p:nvSpPr>
        <p:spPr>
          <a:xfrm>
            <a:off x="6400800" y="2441448"/>
            <a:ext cx="274320" cy="274320"/>
          </a:xfrm>
          <a:prstGeom prst="ellipse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2404872"/>
            <a:ext cx="2743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386584"/>
            <a:ext cx="429768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FFFFF"/>
                </a:solidFill>
                <a:latin typeface="Arial"/>
              </a:rPr>
              <a:t>Open PowerPoint → Home → Live Results (PollSlide).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3154679"/>
            <a:ext cx="274320" cy="274320"/>
          </a:xfrm>
          <a:prstGeom prst="ellipse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3118103"/>
            <a:ext cx="2743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3099815"/>
            <a:ext cx="429768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FFFFF"/>
                </a:solidFill>
                <a:latin typeface="Arial"/>
              </a:rPr>
              <a:t>Sign in with the test account above.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3867911"/>
            <a:ext cx="274320" cy="274320"/>
          </a:xfrm>
          <a:prstGeom prst="ellipse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3831336"/>
            <a:ext cx="2743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3813048"/>
            <a:ext cx="429768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FFFFF"/>
                </a:solidFill>
                <a:latin typeface="Arial"/>
              </a:rPr>
              <a:t>Pick “Reviewer Demo”, choose a question → Insert QR.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0" y="4581144"/>
            <a:ext cx="274320" cy="274320"/>
          </a:xfrm>
          <a:prstGeom prst="ellipse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4544568"/>
            <a:ext cx="2743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4526280"/>
            <a:ext cx="429768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FFFFF"/>
                </a:solidFill>
                <a:latin typeface="Arial"/>
              </a:rPr>
              <a:t>Scan the QR (or open the shown link) and submit an answer.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5294376"/>
            <a:ext cx="274320" cy="274320"/>
          </a:xfrm>
          <a:prstGeom prst="ellipse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5257800"/>
            <a:ext cx="2743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5239512"/>
            <a:ext cx="429768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FFFFF"/>
                </a:solidFill>
                <a:latin typeface="Arial"/>
              </a:rPr>
              <a:t>Watch the bar update live in the task pane.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114800"/>
            <a:ext cx="4937760" cy="1645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9AA0B5"/>
                </a:solidFill>
                <a:latin typeface="Arial"/>
              </a:rPr>
              <a:t>Manifest:  </a:t>
            </a:r>
          </a:p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powerpoint-manifest.xml
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9AA0B5"/>
                </a:solidFill>
                <a:latin typeface="Arial"/>
              </a:rPr>
              <a:t>Source:  </a:t>
            </a:r>
          </a:p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app.pollslide.com/powerpoint
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9AA0B5"/>
                </a:solidFill>
                <a:latin typeface="Arial"/>
              </a:rPr>
              <a:t>Hosts:  </a:t>
            </a:r>
          </a:p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Presentation (PowerPoint)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1923897"/>
            <a:ext cx="197510" cy="296265"/>
          </a:xfrm>
          <a:prstGeom prst="roundRect">
            <a:avLst>
              <a:gd name="adj" fmla="val 30000"/>
            </a:avLst>
          </a:prstGeom>
          <a:solidFill>
            <a:srgbClr val="FF6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77747" y="1726387"/>
            <a:ext cx="197510" cy="493776"/>
          </a:xfrm>
          <a:prstGeom prst="roundRect">
            <a:avLst>
              <a:gd name="adj" fmla="val 30000"/>
            </a:avLst>
          </a:prstGeom>
          <a:solidFill>
            <a:srgbClr val="F7B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441094" y="1463040"/>
            <a:ext cx="197510" cy="757123"/>
          </a:xfrm>
          <a:prstGeom prst="roundRect">
            <a:avLst>
              <a:gd name="adj" fmla="val 30000"/>
            </a:avLst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Arial Black"/>
              </a:rPr>
              <a:t>Ready for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987552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 i="0">
                <a:solidFill>
                  <a:srgbClr val="9AA0B5"/>
                </a:solidFill>
                <a:latin typeface="Arial"/>
              </a:rPr>
              <a:t>One add-in that makes every PowerPoint interactive — on whatever computer the presenter walks up to.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4389120"/>
            <a:ext cx="310896" cy="310896"/>
          </a:xfrm>
          <a:prstGeom prst="ellipse">
            <a:avLst/>
          </a:prstGeom>
          <a:solidFill>
            <a:srgbClr val="43E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370832"/>
            <a:ext cx="310896" cy="31089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D0D18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334256"/>
            <a:ext cx="32004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FFFFFF"/>
                </a:solidFill>
                <a:latin typeface="Arial"/>
              </a:rPr>
              <a:t>Cross-platform (Win/Mac/Web)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0" y="4389120"/>
            <a:ext cx="310896" cy="310896"/>
          </a:xfrm>
          <a:prstGeom prst="ellipse">
            <a:avLst/>
          </a:prstGeom>
          <a:solidFill>
            <a:srgbClr val="43E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4370832"/>
            <a:ext cx="310896" cy="31089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D0D18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4334256"/>
            <a:ext cx="32004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FFFFFF"/>
                </a:solidFill>
                <a:latin typeface="Arial"/>
              </a:rPr>
              <a:t>Minimal permissions, privacy-first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0" y="4389120"/>
            <a:ext cx="310896" cy="310896"/>
          </a:xfrm>
          <a:prstGeom prst="ellipse">
            <a:avLst/>
          </a:prstGeom>
          <a:solidFill>
            <a:srgbClr val="43E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4370832"/>
            <a:ext cx="310896" cy="31089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D0D18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4334256"/>
            <a:ext cx="32004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FFFFFF"/>
                </a:solidFill>
                <a:latin typeface="Arial"/>
              </a:rPr>
              <a:t>Free tier — instant adoption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6C63FF"/>
                </a:solidFill>
                <a:latin typeface="Arial"/>
              </a:rPr>
              <a:t>pollslide.com   ·   help@pollslide.com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976</Words>
  <Application>Microsoft Macintosh PowerPoint</Application>
  <PresentationFormat>Widescreen</PresentationFormat>
  <Paragraphs>177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Marco Rodriguez</cp:lastModifiedBy>
  <cp:revision>2</cp:revision>
  <dcterms:created xsi:type="dcterms:W3CDTF">2013-01-27T09:14:16Z</dcterms:created>
  <dcterms:modified xsi:type="dcterms:W3CDTF">2026-06-28T10:54:02Z</dcterms:modified>
  <cp:category/>
</cp:coreProperties>
</file>